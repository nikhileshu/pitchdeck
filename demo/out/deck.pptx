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cost</c:v>
                </c:pt>
              </c:strCache>
            </c:strRef>
          </c:tx>
          <c:spPr>
            <a:solidFill>
              <a:srgbClr val="4F9CF9"/>
            </a:solidFill>
          </c:spPr>
          <c:cat>
            <c:strRef>
              <c:f>Sheet1!$A$2:$A$4</c:f>
              <c:strCache>
                <c:ptCount val="3"/>
                <c:pt idx="0">
                  <c:v>Dashly</c:v>
                </c:pt>
                <c:pt idx="1">
                  <c:v>Chartio</c:v>
                </c:pt>
                <c:pt idx="2">
                  <c:v>Plotdeck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132.0</c:v>
                </c:pt>
                <c:pt idx="1">
                  <c:v>96.0</c:v>
                </c:pt>
                <c:pt idx="2">
                  <c:v>60.0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9AA4A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9AA4A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Duplicated seats</c:v>
                </c:pt>
              </c:strCache>
            </c:strRef>
          </c:tx>
          <c:spPr>
            <a:solidFill>
              <a:srgbClr val="4F9CF9"/>
            </a:solidFill>
          </c:spPr>
          <c:cat>
            <c:strRef>
              <c:f>Sheet1!$A$2:$A$5</c:f>
              <c:strCache>
                <c:ptCount val="4"/>
                <c:pt idx="0">
                  <c:v>Growth</c:v>
                </c:pt>
                <c:pt idx="1">
                  <c:v>Core Product</c:v>
                </c:pt>
                <c:pt idx="2">
                  <c:v>Data</c:v>
                </c:pt>
                <c:pt idx="3">
                  <c:v>Support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34.0</c:v>
                </c:pt>
                <c:pt idx="1">
                  <c:v>28.0</c:v>
                </c:pt>
                <c:pt idx="2">
                  <c:v>22.0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9AA4A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9AA4A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sentence, then stop: we spend 288 on three tools, Metrio does it for 180. Payback math is on c5 if challenged.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itemise features here — the point is three bills for one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why duplication happened: dashboard migration debt, not negligence. Keep it forward-looking.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92% comes from usage-log analysis — offer the appendix detail if the number is challenged.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Graphline is cheaper but fails residency outright — that is the one-line answer if price comes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single decision. If the room stalls, the fallback is cancelling Plotdeck alone — but say clearly that saves only $60K.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— only walk through this if asked about execution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rd-title"/>
          <p:cNvSpPr txBox="1"/>
          <p:nvPr/>
        </p:nvSpPr>
        <p:spPr>
          <a:xfrm>
            <a:off x="533400" y="2674620"/>
            <a:ext cx="11125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000" b="1" i="0">
                <a:solidFill>
                  <a:srgbClr val="E8EAED"/>
                </a:solidFill>
                <a:latin typeface="Inter"/>
              </a:rPr>
              <a:t>Analytics Consolidation Decision</a:t>
            </a:r>
          </a:p>
        </p:txBody>
      </p:sp>
      <p:sp>
        <p:nvSpPr>
          <p:cNvPr id="3" name="card-subtitle"/>
          <p:cNvSpPr txBox="1"/>
          <p:nvPr/>
        </p:nvSpPr>
        <p:spPr>
          <a:xfrm>
            <a:off x="533400" y="3589020"/>
            <a:ext cx="11125200" cy="3086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9AA4AF"/>
                </a:solidFill>
                <a:latin typeface="Inter"/>
              </a:rPr>
              <a:t>Platform Engineering ·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562600" y="3897630"/>
            <a:ext cx="1066800" cy="57150"/>
          </a:xfrm>
          <a:prstGeom prst="rect">
            <a:avLst/>
          </a:prstGeom>
          <a:solidFill>
            <a:srgbClr val="4F9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rd-title"/>
          <p:cNvSpPr txBox="1"/>
          <p:nvPr/>
        </p:nvSpPr>
        <p:spPr>
          <a:xfrm>
            <a:off x="533400" y="533400"/>
            <a:ext cx="11125200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 i="0">
                <a:solidFill>
                  <a:srgbClr val="E8EAED"/>
                </a:solidFill>
                <a:latin typeface="Inter"/>
              </a:rPr>
              <a:t>Approve the $180K Metrio contract to replace three analytics tools</a:t>
            </a:r>
          </a:p>
        </p:txBody>
      </p:sp>
      <p:grpSp>
        <p:nvGrpSpPr>
          <p:cNvPr id="3" name="c2b1:kpi"/>
          <p:cNvGrpSpPr/>
          <p:nvPr/>
        </p:nvGrpSpPr>
        <p:grpSpPr>
          <a:xfrm>
            <a:off x="533400" y="1722120"/>
            <a:ext cx="11125200" cy="1200150"/>
            <a:chOff x="533400" y="1722120"/>
            <a:chExt cx="11125200" cy="1200150"/>
          </a:xfrm>
        </p:grpSpPr>
        <p:sp>
          <p:nvSpPr>
            <p:cNvPr id="4" name="TextBox 3"/>
            <p:cNvSpPr txBox="1"/>
            <p:nvPr/>
          </p:nvSpPr>
          <p:spPr>
            <a:xfrm>
              <a:off x="533400" y="1722120"/>
              <a:ext cx="11125200" cy="6858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r>
                <a:rPr sz="4000" b="1" i="0">
                  <a:solidFill>
                    <a:srgbClr val="4F9CF9"/>
                  </a:solidFill>
                  <a:latin typeface="Inter"/>
                </a:rPr>
                <a:t>$108K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33400" y="2407920"/>
              <a:ext cx="11125200" cy="30861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r>
                <a:rPr sz="1800" b="0" i="0">
                  <a:solidFill>
                    <a:srgbClr val="E8EAED"/>
                  </a:solidFill>
                  <a:latin typeface="Inter"/>
                </a:rPr>
                <a:t>net annual saving after consolidation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33400" y="2716530"/>
              <a:ext cx="11125200" cy="2057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r>
                <a:rPr sz="1200" b="0" i="0">
                  <a:solidFill>
                    <a:srgbClr val="9AA4AF"/>
                  </a:solidFill>
                  <a:latin typeface="Inter"/>
                </a:rPr>
                <a:t>breakeven in month 8</a:t>
              </a:r>
            </a:p>
          </p:txBody>
        </p:sp>
      </p:grpSp>
      <p:sp>
        <p:nvSpPr>
          <p:cNvPr id="7" name="c2b2:callout"/>
          <p:cNvSpPr/>
          <p:nvPr/>
        </p:nvSpPr>
        <p:spPr>
          <a:xfrm>
            <a:off x="533400" y="3150870"/>
            <a:ext cx="11125200" cy="613410"/>
          </a:xfrm>
          <a:prstGeom prst="roundRect">
            <a:avLst/>
          </a:prstGeom>
          <a:solidFill>
            <a:srgbClr val="1A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52400" bIns="152400">
            <a:noAutofit/>
          </a:bodyPr>
          <a:lstStyle/>
          <a:p>
            <a:pPr algn="ctr"/>
            <a:r>
              <a:rPr sz="1800" b="0" i="0">
                <a:solidFill>
                  <a:srgbClr val="E8EAED"/>
                </a:solidFill>
                <a:latin typeface="Inter"/>
              </a:rPr>
              <a:t>Two incumbent renewals auto-execute September 30 — the decision window is now.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3150870"/>
            <a:ext cx="57150" cy="613410"/>
          </a:xfrm>
          <a:prstGeom prst="rect">
            <a:avLst/>
          </a:prstGeom>
          <a:solidFill>
            <a:srgbClr val="4F9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rd-title"/>
          <p:cNvSpPr txBox="1"/>
          <p:nvPr/>
        </p:nvSpPr>
        <p:spPr>
          <a:xfrm>
            <a:off x="533400" y="533400"/>
            <a:ext cx="11125200" cy="480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 i="0">
                <a:solidFill>
                  <a:srgbClr val="E8EAED"/>
                </a:solidFill>
                <a:latin typeface="Inter"/>
              </a:rPr>
              <a:t>Analytics spend hits $288K across three overlapping tools</a:t>
            </a:r>
          </a:p>
        </p:txBody>
      </p:sp>
      <p:graphicFrame>
        <p:nvGraphicFramePr>
          <p:cNvPr id="3" name="c3b1:chart"/>
          <p:cNvGraphicFramePr>
            <a:graphicFrameLocks noGrp="1"/>
          </p:cNvGraphicFramePr>
          <p:nvPr/>
        </p:nvGraphicFramePr>
        <p:xfrm>
          <a:off x="533400" y="1242060"/>
          <a:ext cx="11125200" cy="304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33400" y="4404360"/>
            <a:ext cx="11125200" cy="2057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 i="0">
                <a:solidFill>
                  <a:srgbClr val="9AA4AF"/>
                </a:solidFill>
                <a:latin typeface="Inter"/>
              </a:rPr>
              <a:t>Annual contract cost by tool (US$K)</a:t>
            </a:r>
          </a:p>
        </p:txBody>
      </p:sp>
      <p:sp>
        <p:nvSpPr>
          <p:cNvPr id="5" name="c3b2:callout"/>
          <p:cNvSpPr/>
          <p:nvPr/>
        </p:nvSpPr>
        <p:spPr>
          <a:xfrm>
            <a:off x="533400" y="4838700"/>
            <a:ext cx="11125200" cy="613410"/>
          </a:xfrm>
          <a:prstGeom prst="roundRect">
            <a:avLst/>
          </a:prstGeom>
          <a:solidFill>
            <a:srgbClr val="1A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52400" bIns="152400">
            <a:noAutofit/>
          </a:bodyPr>
          <a:lstStyle/>
          <a:p>
            <a:pPr algn="ctr"/>
            <a:r>
              <a:rPr sz="1800" b="0" i="0">
                <a:solidFill>
                  <a:srgbClr val="E8EAED"/>
                </a:solidFill>
                <a:latin typeface="Inter"/>
              </a:rPr>
              <a:t>All three contracts renewed last year without a consolidation review.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4838700"/>
            <a:ext cx="57150" cy="61341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rd-title"/>
          <p:cNvSpPr txBox="1"/>
          <p:nvPr/>
        </p:nvSpPr>
        <p:spPr>
          <a:xfrm>
            <a:off x="533400" y="533400"/>
            <a:ext cx="11125200" cy="480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 i="0">
                <a:solidFill>
                  <a:srgbClr val="E8EAED"/>
                </a:solidFill>
                <a:latin typeface="Inter"/>
              </a:rPr>
              <a:t>Six teams pay twice for the same dashboards</a:t>
            </a:r>
          </a:p>
        </p:txBody>
      </p:sp>
      <p:graphicFrame>
        <p:nvGraphicFramePr>
          <p:cNvPr id="3" name="c4b1:chart"/>
          <p:cNvGraphicFramePr>
            <a:graphicFrameLocks noGrp="1"/>
          </p:cNvGraphicFramePr>
          <p:nvPr/>
        </p:nvGraphicFramePr>
        <p:xfrm>
          <a:off x="533400" y="1242060"/>
          <a:ext cx="11125200" cy="304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33400" y="4404360"/>
            <a:ext cx="11125200" cy="2057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 i="0">
                <a:solidFill>
                  <a:srgbClr val="9AA4AF"/>
                </a:solidFill>
                <a:latin typeface="Inter"/>
              </a:rPr>
              <a:t>Seats duplicated across two or more tools, by team</a:t>
            </a:r>
          </a:p>
        </p:txBody>
      </p:sp>
      <p:sp>
        <p:nvSpPr>
          <p:cNvPr id="5" name="c4b2:callout"/>
          <p:cNvSpPr/>
          <p:nvPr/>
        </p:nvSpPr>
        <p:spPr>
          <a:xfrm>
            <a:off x="533400" y="4838700"/>
            <a:ext cx="11125200" cy="613410"/>
          </a:xfrm>
          <a:prstGeom prst="roundRect">
            <a:avLst/>
          </a:prstGeom>
          <a:solidFill>
            <a:srgbClr val="1A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52400" bIns="152400">
            <a:noAutofit/>
          </a:bodyPr>
          <a:lstStyle/>
          <a:p>
            <a:pPr algn="ctr"/>
            <a:r>
              <a:rPr sz="1800" b="0" i="0">
                <a:solidFill>
                  <a:srgbClr val="E8EAED"/>
                </a:solidFill>
                <a:latin typeface="Inter"/>
              </a:rPr>
              <a:t>Every new hire in these teams adds two licences by default.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4838700"/>
            <a:ext cx="57150" cy="61341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rd-title"/>
          <p:cNvSpPr txBox="1"/>
          <p:nvPr/>
        </p:nvSpPr>
        <p:spPr>
          <a:xfrm>
            <a:off x="533400" y="533400"/>
            <a:ext cx="11125200" cy="480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 i="0">
                <a:solidFill>
                  <a:srgbClr val="E8EAED"/>
                </a:solidFill>
                <a:latin typeface="Inter"/>
              </a:rPr>
              <a:t>Metrio delivers 92% of current usage at 63% of the cost</a:t>
            </a:r>
          </a:p>
        </p:txBody>
      </p:sp>
      <p:grpSp>
        <p:nvGrpSpPr>
          <p:cNvPr id="3" name="c5b1:kpi"/>
          <p:cNvGrpSpPr/>
          <p:nvPr/>
        </p:nvGrpSpPr>
        <p:grpSpPr>
          <a:xfrm>
            <a:off x="533400" y="1242060"/>
            <a:ext cx="11125200" cy="1200150"/>
            <a:chOff x="533400" y="1242060"/>
            <a:chExt cx="11125200" cy="1200150"/>
          </a:xfrm>
        </p:grpSpPr>
        <p:sp>
          <p:nvSpPr>
            <p:cNvPr id="4" name="TextBox 3"/>
            <p:cNvSpPr txBox="1"/>
            <p:nvPr/>
          </p:nvSpPr>
          <p:spPr>
            <a:xfrm>
              <a:off x="533400" y="1242060"/>
              <a:ext cx="11125200" cy="6858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r>
                <a:rPr sz="4000" b="1" i="0">
                  <a:solidFill>
                    <a:srgbClr val="4F9CF9"/>
                  </a:solidFill>
                  <a:latin typeface="Inter"/>
                </a:rPr>
                <a:t>92%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33400" y="1927860"/>
              <a:ext cx="11125200" cy="30861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r>
                <a:rPr sz="1800" b="0" i="0">
                  <a:solidFill>
                    <a:srgbClr val="E8EAED"/>
                  </a:solidFill>
                  <a:latin typeface="Inter"/>
                </a:rPr>
                <a:t>of tracked dashboard usage covered by Metrio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33400" y="2236470"/>
              <a:ext cx="11125200" cy="2057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r>
                <a:rPr sz="1200" b="0" i="0">
                  <a:solidFill>
                    <a:srgbClr val="9AA4AF"/>
                  </a:solidFill>
                  <a:latin typeface="Inter"/>
                </a:rPr>
                <a:t>from 6 months of usage logs</a:t>
              </a:r>
            </a:p>
          </p:txBody>
        </p:sp>
      </p:grpSp>
      <p:sp>
        <p:nvSpPr>
          <p:cNvPr id="7" name="c5b2:bullets"/>
          <p:cNvSpPr txBox="1"/>
          <p:nvPr/>
        </p:nvSpPr>
        <p:spPr>
          <a:xfrm>
            <a:off x="533400" y="2670810"/>
            <a:ext cx="11125200" cy="11544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E8EAED"/>
                </a:solidFill>
                <a:latin typeface="Inter"/>
              </a:rPr>
              <a:t>•  The uncovered 8% is legacy exports two teams already plan to retire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E8EAED"/>
                </a:solidFill>
                <a:latin typeface="Inter"/>
              </a:rPr>
              <a:t>•  $180K flat contract replaces $288K across three renewals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E8EAED"/>
                </a:solidFill>
                <a:latin typeface="Inter"/>
              </a:rPr>
              <a:t>•  Migration runs inside Q4 with no new headcount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rd-title"/>
          <p:cNvSpPr txBox="1"/>
          <p:nvPr/>
        </p:nvSpPr>
        <p:spPr>
          <a:xfrm>
            <a:off x="533400" y="533400"/>
            <a:ext cx="11125200" cy="480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 i="0">
                <a:solidFill>
                  <a:srgbClr val="E8EAED"/>
                </a:solidFill>
                <a:latin typeface="Inter"/>
              </a:rPr>
              <a:t>Two alternatives fall short on SSO and data residency</a:t>
            </a:r>
          </a:p>
        </p:txBody>
      </p:sp>
      <p:graphicFrame>
        <p:nvGraphicFramePr>
          <p:cNvPr id="3" name="c6b1:table"/>
          <p:cNvGraphicFramePr>
            <a:graphicFrameLocks noGrp="1"/>
          </p:cNvGraphicFramePr>
          <p:nvPr/>
        </p:nvGraphicFramePr>
        <p:xfrm>
          <a:off x="533400" y="1242060"/>
          <a:ext cx="11125200" cy="26136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1300"/>
                <a:gridCol w="2781300"/>
                <a:gridCol w="2781300"/>
                <a:gridCol w="2781300"/>
              </a:tblGrid>
              <a:tr h="522732">
                <a:tc>
                  <a:txBody>
                    <a:bodyPr anchor="t" wrap="square" lIns="114300" rIns="114300" tIns="76200" bIns="76200">
                      <a:noAutofit/>
                    </a:bodyPr>
                    <a:lstStyle/>
                    <a:p>
                      <a:r>
                        <a:rPr sz="1200" b="1" i="0">
                          <a:solidFill>
                            <a:srgbClr val="9AA4AF"/>
                          </a:solidFill>
                          <a:latin typeface="Inter"/>
                        </a:rPr>
                        <a:t>Criterion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 anchor="t" wrap="square" lIns="114300" rIns="114300" tIns="76200" bIns="76200">
                      <a:noAutofit/>
                    </a:bodyPr>
                    <a:lstStyle/>
                    <a:p>
                      <a:r>
                        <a:rPr sz="1200" b="1" i="0">
                          <a:solidFill>
                            <a:srgbClr val="9AA4AF"/>
                          </a:solidFill>
                          <a:latin typeface="Inter"/>
                        </a:rPr>
                        <a:t>Metrio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 anchor="t" wrap="square" lIns="114300" rIns="114300" tIns="76200" bIns="76200">
                      <a:noAutofit/>
                    </a:bodyPr>
                    <a:lstStyle/>
                    <a:p>
                      <a:r>
                        <a:rPr sz="1200" b="1" i="0">
                          <a:solidFill>
                            <a:srgbClr val="9AA4AF"/>
                          </a:solidFill>
                          <a:latin typeface="Inter"/>
                        </a:rPr>
                        <a:t>Kepler BI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  <a:tc>
                  <a:txBody>
                    <a:bodyPr anchor="t" wrap="square" lIns="114300" rIns="114300" tIns="76200" bIns="76200">
                      <a:noAutofit/>
                    </a:bodyPr>
                    <a:lstStyle/>
                    <a:p>
                      <a:r>
                        <a:rPr sz="1200" b="1" i="0">
                          <a:solidFill>
                            <a:srgbClr val="9AA4AF"/>
                          </a:solidFill>
                          <a:latin typeface="Inter"/>
                        </a:rPr>
                        <a:t>Graphline</a:t>
                      </a:r>
                    </a:p>
                  </a:txBody>
                  <a:tcPr>
                    <a:solidFill>
                      <a:srgbClr val="1A2027"/>
                    </a:solidFill>
                  </a:tcPr>
                </a:tc>
              </a:tr>
              <a:tr h="522732">
                <a:tc>
                  <a:txBody>
                    <a:bodyPr anchor="t" wrap="square" lIns="114300" rIns="114300" tIns="76200" bIns="76200">
                      <a:noAutofit/>
                    </a:bodyPr>
                    <a:lstStyle/>
                    <a:p>
                      <a:r>
                        <a:rPr sz="1800" b="0" i="0">
                          <a:solidFill>
                            <a:srgbClr val="E8EAED"/>
                          </a:solidFill>
                          <a:latin typeface="Inter"/>
                        </a:rPr>
                        <a:t>SAML SSO included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 anchor="t" wrap="square" lIns="114300" rIns="114300" tIns="76200" bIns="76200">
                      <a:noAutofit/>
                    </a:bodyPr>
                    <a:lstStyle/>
                    <a:p>
                      <a:r>
                        <a:rPr sz="1800" b="0" i="0">
                          <a:solidFill>
                            <a:srgbClr val="E8EAED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 anchor="t" wrap="square" lIns="114300" rIns="114300" tIns="76200" bIns="76200">
                      <a:noAutofit/>
                    </a:bodyPr>
                    <a:lstStyle/>
                    <a:p>
                      <a:r>
                        <a:rPr sz="1800" b="0" i="0">
                          <a:solidFill>
                            <a:srgbClr val="E8EAED"/>
                          </a:solidFill>
                          <a:latin typeface="Inter"/>
                        </a:rPr>
                        <a:t>Enterprise tier only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 anchor="t" wrap="square" lIns="114300" rIns="114300" tIns="76200" bIns="76200">
                      <a:noAutofit/>
                    </a:bodyPr>
                    <a:lstStyle/>
                    <a:p>
                      <a:r>
                        <a:rPr sz="1800" b="0" i="0">
                          <a:solidFill>
                            <a:srgbClr val="E8EAED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</a:tr>
              <a:tr h="522732">
                <a:tc>
                  <a:txBody>
                    <a:bodyPr anchor="t" wrap="square" lIns="114300" rIns="114300" tIns="76200" bIns="76200">
                      <a:noAutofit/>
                    </a:bodyPr>
                    <a:lstStyle/>
                    <a:p>
                      <a:r>
                        <a:rPr sz="1800" b="0" i="0">
                          <a:solidFill>
                            <a:srgbClr val="E8EAED"/>
                          </a:solidFill>
                          <a:latin typeface="Inter"/>
                        </a:rPr>
                        <a:t>EU data residency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 anchor="t" wrap="square" lIns="114300" rIns="114300" tIns="76200" bIns="76200">
                      <a:noAutofit/>
                    </a:bodyPr>
                    <a:lstStyle/>
                    <a:p>
                      <a:r>
                        <a:rPr sz="1800" b="0" i="0">
                          <a:solidFill>
                            <a:srgbClr val="E8EAED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 anchor="t" wrap="square" lIns="114300" rIns="114300" tIns="76200" bIns="76200">
                      <a:noAutofit/>
                    </a:bodyPr>
                    <a:lstStyle/>
                    <a:p>
                      <a:r>
                        <a:rPr sz="1800" b="0" i="0">
                          <a:solidFill>
                            <a:srgbClr val="E8EAED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 anchor="t" wrap="square" lIns="114300" rIns="114300" tIns="76200" bIns="76200">
                      <a:noAutofit/>
                    </a:bodyPr>
                    <a:lstStyle/>
                    <a:p>
                      <a:r>
                        <a:rPr sz="1800" b="0" i="0">
                          <a:solidFill>
                            <a:srgbClr val="E8EAED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</a:tr>
              <a:tr h="522732">
                <a:tc>
                  <a:txBody>
                    <a:bodyPr anchor="t" wrap="square" lIns="114300" rIns="114300" tIns="76200" bIns="76200">
                      <a:noAutofit/>
                    </a:bodyPr>
                    <a:lstStyle/>
                    <a:p>
                      <a:r>
                        <a:rPr sz="1800" b="0" i="0">
                          <a:solidFill>
                            <a:srgbClr val="E8EAED"/>
                          </a:solidFill>
                          <a:latin typeface="Inter"/>
                        </a:rPr>
                        <a:t>Annual cost (like-for-like)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 anchor="t" wrap="square" lIns="114300" rIns="114300" tIns="76200" bIns="76200">
                      <a:noAutofit/>
                    </a:bodyPr>
                    <a:lstStyle/>
                    <a:p>
                      <a:r>
                        <a:rPr sz="1800" b="0" i="0">
                          <a:solidFill>
                            <a:srgbClr val="E8EAED"/>
                          </a:solidFill>
                          <a:latin typeface="Inter"/>
                        </a:rPr>
                        <a:t>$180K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 anchor="t" wrap="square" lIns="114300" rIns="114300" tIns="76200" bIns="76200">
                      <a:noAutofit/>
                    </a:bodyPr>
                    <a:lstStyle/>
                    <a:p>
                      <a:r>
                        <a:rPr sz="1800" b="0" i="0">
                          <a:solidFill>
                            <a:srgbClr val="E8EAED"/>
                          </a:solidFill>
                          <a:latin typeface="Inter"/>
                        </a:rPr>
                        <a:t>$214K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 anchor="t" wrap="square" lIns="114300" rIns="114300" tIns="76200" bIns="76200">
                      <a:noAutofit/>
                    </a:bodyPr>
                    <a:lstStyle/>
                    <a:p>
                      <a:r>
                        <a:rPr sz="1800" b="0" i="0">
                          <a:solidFill>
                            <a:srgbClr val="E8EAED"/>
                          </a:solidFill>
                          <a:latin typeface="Inter"/>
                        </a:rPr>
                        <a:t>$168K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</a:tr>
              <a:tr h="522732">
                <a:tc>
                  <a:txBody>
                    <a:bodyPr anchor="t" wrap="square" lIns="114300" rIns="114300" tIns="76200" bIns="76200">
                      <a:noAutofit/>
                    </a:bodyPr>
                    <a:lstStyle/>
                    <a:p>
                      <a:r>
                        <a:rPr sz="1800" b="0" i="0">
                          <a:solidFill>
                            <a:srgbClr val="E8EAED"/>
                          </a:solidFill>
                          <a:latin typeface="Inter"/>
                        </a:rPr>
                        <a:t>Usage coverage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 anchor="t" wrap="square" lIns="114300" rIns="114300" tIns="76200" bIns="76200">
                      <a:noAutofit/>
                    </a:bodyPr>
                    <a:lstStyle/>
                    <a:p>
                      <a:r>
                        <a:rPr sz="1800" b="0" i="0">
                          <a:solidFill>
                            <a:srgbClr val="E8EAED"/>
                          </a:solidFill>
                          <a:latin typeface="Inter"/>
                        </a:rPr>
                        <a:t>92%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 anchor="t" wrap="square" lIns="114300" rIns="114300" tIns="76200" bIns="76200">
                      <a:noAutofit/>
                    </a:bodyPr>
                    <a:lstStyle/>
                    <a:p>
                      <a:r>
                        <a:rPr sz="1800" b="0" i="0">
                          <a:solidFill>
                            <a:srgbClr val="E8EAED"/>
                          </a:solidFill>
                          <a:latin typeface="Inter"/>
                        </a:rPr>
                        <a:t>88%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 anchor="t" wrap="square" lIns="114300" rIns="114300" tIns="76200" bIns="76200">
                      <a:noAutofit/>
                    </a:bodyPr>
                    <a:lstStyle/>
                    <a:p>
                      <a:r>
                        <a:rPr sz="1800" b="0" i="0">
                          <a:solidFill>
                            <a:srgbClr val="E8EAED"/>
                          </a:solidFill>
                          <a:latin typeface="Inter"/>
                        </a:rPr>
                        <a:t>71%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rd-title"/>
          <p:cNvSpPr txBox="1"/>
          <p:nvPr/>
        </p:nvSpPr>
        <p:spPr>
          <a:xfrm>
            <a:off x="533400" y="533400"/>
            <a:ext cx="11125200" cy="480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 i="0">
                <a:solidFill>
                  <a:srgbClr val="E8EAED"/>
                </a:solidFill>
                <a:latin typeface="Inter"/>
              </a:rPr>
              <a:t>We need signatures before the September 30 renewal deadlines</a:t>
            </a:r>
          </a:p>
        </p:txBody>
      </p:sp>
      <p:sp>
        <p:nvSpPr>
          <p:cNvPr id="3" name="c7b1:callout"/>
          <p:cNvSpPr/>
          <p:nvPr/>
        </p:nvSpPr>
        <p:spPr>
          <a:xfrm>
            <a:off x="533400" y="1242060"/>
            <a:ext cx="11125200" cy="613410"/>
          </a:xfrm>
          <a:prstGeom prst="roundRect">
            <a:avLst/>
          </a:prstGeom>
          <a:solidFill>
            <a:srgbClr val="1A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52400" bIns="152400">
            <a:noAutofit/>
          </a:bodyPr>
          <a:lstStyle/>
          <a:p>
            <a:pPr algn="ctr"/>
            <a:r>
              <a:rPr sz="1800" b="0" i="0">
                <a:solidFill>
                  <a:srgbClr val="E8EAED"/>
                </a:solidFill>
                <a:latin typeface="Inter"/>
              </a:rPr>
              <a:t>Dashly and Chartio renew automatically Sept 30; cancellation needs 30 days' notice.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242060"/>
            <a:ext cx="57150" cy="613410"/>
          </a:xfrm>
          <a:prstGeom prst="rect">
            <a:avLst/>
          </a:prstGeom>
          <a:solidFill>
            <a:srgbClr val="4F9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5" name="c7b2:text"/>
          <p:cNvSpPr txBox="1"/>
          <p:nvPr/>
        </p:nvSpPr>
        <p:spPr>
          <a:xfrm>
            <a:off x="533400" y="2084070"/>
            <a:ext cx="11125200" cy="6172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0" i="0">
                <a:solidFill>
                  <a:srgbClr val="E8EAED"/>
                </a:solidFill>
                <a:latin typeface="Inter"/>
              </a:rPr>
              <a:t>Signing by September 1 avoids a full year of double payment on two of the three tools. The ask: approve the Metrio contract and authorise the two cancellations.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rd-title"/>
          <p:cNvSpPr txBox="1"/>
          <p:nvPr/>
        </p:nvSpPr>
        <p:spPr>
          <a:xfrm>
            <a:off x="533400" y="533400"/>
            <a:ext cx="11125200" cy="480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 i="0">
                <a:solidFill>
                  <a:srgbClr val="E8EAED"/>
                </a:solidFill>
                <a:latin typeface="Inter"/>
              </a:rPr>
              <a:t>Migration runs eight weeks with the existing team</a:t>
            </a:r>
          </a:p>
        </p:txBody>
      </p:sp>
      <p:sp>
        <p:nvSpPr>
          <p:cNvPr id="3" name="c8b1:bullets"/>
          <p:cNvSpPr txBox="1"/>
          <p:nvPr/>
        </p:nvSpPr>
        <p:spPr>
          <a:xfrm>
            <a:off x="533400" y="1242060"/>
            <a:ext cx="11125200" cy="15773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E8EAED"/>
                </a:solidFill>
                <a:latin typeface="Inter"/>
              </a:rPr>
              <a:t>•  Weeks 1–2: SSO, workspace setup, top-20 dashboards rebuilt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E8EAED"/>
                </a:solidFill>
                <a:latin typeface="Inter"/>
              </a:rPr>
              <a:t>•  Weeks 3–6: team-by-team migration, old tools read-only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E8EAED"/>
                </a:solidFill>
                <a:latin typeface="Inter"/>
              </a:rPr>
              <a:t>•  Weeks 7–8: legacy export retirement and cancellation notices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E8EAED"/>
                </a:solidFill>
                <a:latin typeface="Inter"/>
              </a:rPr>
              <a:t>•  Rollback point: end of week 4, before read-only cutover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